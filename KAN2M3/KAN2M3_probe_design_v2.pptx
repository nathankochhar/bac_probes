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3C49"/>
                </a:solidFill>
              </a:rPr>
              <a:t>Protection from one mismatch, by probe position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Mismatch weight</c:v>
                </c:pt>
              </c:strCache>
            </c:strRef>
          </c:tx>
          <c:spPr>
            <a:ln w="38100">
              <a:solidFill>
                <a:srgbClr val="F0634F"/>
              </a:solidFill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0.002</c:v>
                </c:pt>
                <c:pt idx="1">
                  <c:v>0.022</c:v>
                </c:pt>
                <c:pt idx="2">
                  <c:v>0.059</c:v>
                </c:pt>
                <c:pt idx="3">
                  <c:v>0.113</c:v>
                </c:pt>
                <c:pt idx="4">
                  <c:v>0.183</c:v>
                </c:pt>
                <c:pt idx="5">
                  <c:v>0.264</c:v>
                </c:pt>
                <c:pt idx="6">
                  <c:v>0.355</c:v>
                </c:pt>
                <c:pt idx="7">
                  <c:v>0.451</c:v>
                </c:pt>
                <c:pt idx="8">
                  <c:v>0.549</c:v>
                </c:pt>
                <c:pt idx="9">
                  <c:v>0.645</c:v>
                </c:pt>
                <c:pt idx="10">
                  <c:v>0.736</c:v>
                </c:pt>
                <c:pt idx="11">
                  <c:v>0.817</c:v>
                </c:pt>
                <c:pt idx="12">
                  <c:v>0.887</c:v>
                </c:pt>
                <c:pt idx="13">
                  <c:v>0.941</c:v>
                </c:pt>
                <c:pt idx="14">
                  <c:v>0.978</c:v>
                </c:pt>
                <c:pt idx="15">
                  <c:v>0.998</c:v>
                </c:pt>
                <c:pt idx="16">
                  <c:v>0.998</c:v>
                </c:pt>
                <c:pt idx="17">
                  <c:v>0.978</c:v>
                </c:pt>
                <c:pt idx="18">
                  <c:v>0.941</c:v>
                </c:pt>
                <c:pt idx="19">
                  <c:v>0.887</c:v>
                </c:pt>
                <c:pt idx="20">
                  <c:v>0.817</c:v>
                </c:pt>
                <c:pt idx="21">
                  <c:v>0.736</c:v>
                </c:pt>
                <c:pt idx="22">
                  <c:v>0.645</c:v>
                </c:pt>
                <c:pt idx="23">
                  <c:v>0.549</c:v>
                </c:pt>
                <c:pt idx="24">
                  <c:v>0.451</c:v>
                </c:pt>
                <c:pt idx="25">
                  <c:v>0.355</c:v>
                </c:pt>
                <c:pt idx="26">
                  <c:v>0.264</c:v>
                </c:pt>
                <c:pt idx="27">
                  <c:v>0.183</c:v>
                </c:pt>
                <c:pt idx="28">
                  <c:v>0.113</c:v>
                </c:pt>
                <c:pt idx="29">
                  <c:v>0.059</c:v>
                </c:pt>
                <c:pt idx="30">
                  <c:v>0.022</c:v>
                </c:pt>
                <c:pt idx="31">
                  <c:v>0.002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9E2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2118791784"/>
        <c:crosses val="autoZero"/>
        <c:majorUnit val="0.5"/>
      </c:valAx>
    </c:plotArea>
    <c:plotVisOnly val="1"/>
    <c:dispBlanksAs val="gap"/>
    <c:showDLblsOverMax val="0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coverage (%)</c:v>
                </c:pt>
              </c:strCache>
            </c:strRef>
          </c:tx>
          <c:dPt>
            <c:idx val="0"/>
            <c:spPr>
              <a:solidFill>
                <a:srgbClr val="1B7F7A"/>
              </a:solidFill>
            </c:spPr>
          </c:dPt>
          <c:dPt>
            <c:idx val="1"/>
            <c:spPr>
              <a:solidFill>
                <a:srgbClr val="1B7F7A"/>
              </a:solidFill>
            </c:spPr>
          </c:dPt>
          <c:dPt>
            <c:idx val="2"/>
            <c:spPr>
              <a:solidFill>
                <a:srgbClr val="1B7F7A"/>
              </a:solidFill>
            </c:spPr>
          </c:dPt>
          <c:dPt>
            <c:idx val="3"/>
            <c:spPr>
              <a:solidFill>
                <a:srgbClr val="1B7F7A"/>
              </a:solidFill>
            </c:spPr>
          </c:dPt>
          <c:dPt>
            <c:idx val="4"/>
            <c:spPr>
              <a:solidFill>
                <a:srgbClr val="1B7F7A"/>
              </a:solidFill>
            </c:spPr>
          </c:dPt>
          <c:dPt>
            <c:idx val="5"/>
            <c:spPr>
              <a:solidFill>
                <a:srgbClr val="1B7F7A"/>
              </a:solidFill>
            </c:spPr>
          </c:dPt>
          <c:cat>
            <c:strRef>
              <c:f>Sheet1!$A$2:$A$7</c:f>
              <c:strCache>
                <c:ptCount val="6"/>
                <c:pt idx="0">
                  <c:v>Fusobacteriota</c:v>
                </c:pt>
                <c:pt idx="1">
                  <c:v>Actinobacteriota</c:v>
                </c:pt>
                <c:pt idx="2">
                  <c:v>Campylobacterota</c:v>
                </c:pt>
                <c:pt idx="3">
                  <c:v>Bacteroidota</c:v>
                </c:pt>
                <c:pt idx="4">
                  <c:v>Proteobacteria</c:v>
                </c:pt>
                <c:pt idx="5">
                  <c:v>Firmicutes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85.0</c:v>
                </c:pt>
                <c:pt idx="1">
                  <c:v>74.4</c:v>
                </c:pt>
                <c:pt idx="2">
                  <c:v>63.7</c:v>
                </c:pt>
                <c:pt idx="3">
                  <c:v>61.4</c:v>
                </c:pt>
                <c:pt idx="4">
                  <c:v>56.4</c:v>
                </c:pt>
                <c:pt idx="5">
                  <c:v>54.8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1F2A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1100">
                <a:solidFill>
                  <a:srgbClr val="1F2A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E2E1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coverage (%)</c:v>
                </c:pt>
              </c:strCache>
            </c:strRef>
          </c:tx>
          <c:dPt>
            <c:idx val="0"/>
            <c:spPr>
              <a:solidFill>
                <a:srgbClr val="1B7F7A"/>
              </a:solidFill>
            </c:spPr>
          </c:dPt>
          <c:dPt>
            <c:idx val="1"/>
            <c:spPr>
              <a:solidFill>
                <a:srgbClr val="1B7F7A"/>
              </a:solidFill>
            </c:spPr>
          </c:dPt>
          <c:dPt>
            <c:idx val="2"/>
            <c:spPr>
              <a:solidFill>
                <a:srgbClr val="1B7F7A"/>
              </a:solidFill>
            </c:spPr>
          </c:dPt>
          <c:dPt>
            <c:idx val="3"/>
            <c:spPr>
              <a:solidFill>
                <a:srgbClr val="1B7F7A"/>
              </a:solidFill>
            </c:spPr>
          </c:dPt>
          <c:dPt>
            <c:idx val="4"/>
            <c:spPr>
              <a:solidFill>
                <a:srgbClr val="1B7F7A"/>
              </a:solidFill>
            </c:spPr>
          </c:dPt>
          <c:dPt>
            <c:idx val="5"/>
            <c:spPr>
              <a:solidFill>
                <a:srgbClr val="1B7F7A"/>
              </a:solidFill>
            </c:spPr>
          </c:dPt>
          <c:dPt>
            <c:idx val="6"/>
            <c:spPr>
              <a:solidFill>
                <a:srgbClr val="1B7F7A"/>
              </a:solidFill>
            </c:spPr>
          </c:dPt>
          <c:dPt>
            <c:idx val="7"/>
            <c:spPr>
              <a:solidFill>
                <a:srgbClr val="1B7F7A"/>
              </a:solidFill>
            </c:spPr>
          </c:dPt>
          <c:dPt>
            <c:idx val="8"/>
            <c:spPr>
              <a:solidFill>
                <a:srgbClr val="1B7F7A"/>
              </a:solidFill>
            </c:spPr>
          </c:dPt>
          <c:dPt>
            <c:idx val="9"/>
            <c:spPr>
              <a:solidFill>
                <a:srgbClr val="1B7F7A"/>
              </a:solidFill>
            </c:spPr>
          </c:dPt>
          <c:dPt>
            <c:idx val="10"/>
            <c:spPr>
              <a:solidFill>
                <a:srgbClr val="1B7F7A"/>
              </a:solidFill>
            </c:spPr>
          </c:dPt>
          <c:dPt>
            <c:idx val="11"/>
            <c:spPr>
              <a:solidFill>
                <a:srgbClr val="1B7F7A"/>
              </a:solidFill>
            </c:spPr>
          </c:dPt>
          <c:dPt>
            <c:idx val="12"/>
            <c:spPr>
              <a:solidFill>
                <a:srgbClr val="1B7F7A"/>
              </a:solidFill>
            </c:spPr>
          </c:dPt>
          <c:dPt>
            <c:idx val="13"/>
            <c:spPr>
              <a:solidFill>
                <a:srgbClr val="1B7F7A"/>
              </a:solidFill>
            </c:spPr>
          </c:dPt>
          <c:dPt>
            <c:idx val="14"/>
            <c:spPr>
              <a:solidFill>
                <a:srgbClr val="1B7F7A"/>
              </a:solidFill>
            </c:spPr>
          </c:dPt>
          <c:dPt>
            <c:idx val="15"/>
            <c:spPr>
              <a:solidFill>
                <a:srgbClr val="1B7F7A"/>
              </a:solidFill>
            </c:spPr>
          </c:dPt>
          <c:dPt>
            <c:idx val="16"/>
            <c:spPr>
              <a:solidFill>
                <a:srgbClr val="1B7F7A"/>
              </a:solidFill>
            </c:spPr>
          </c:dPt>
          <c:dPt>
            <c:idx val="17"/>
            <c:spPr>
              <a:solidFill>
                <a:srgbClr val="1B7F7A"/>
              </a:solidFill>
            </c:spPr>
          </c:dPt>
          <c:dPt>
            <c:idx val="18"/>
            <c:spPr>
              <a:solidFill>
                <a:srgbClr val="1B7F7A"/>
              </a:solidFill>
            </c:spPr>
          </c:dPt>
          <c:dPt>
            <c:idx val="19"/>
            <c:spPr>
              <a:solidFill>
                <a:srgbClr val="1B7F7A"/>
              </a:solidFill>
            </c:spPr>
          </c:dPt>
          <c:dPt>
            <c:idx val="20"/>
            <c:spPr>
              <a:solidFill>
                <a:srgbClr val="1B7F7A"/>
              </a:solidFill>
            </c:spPr>
          </c:dPt>
          <c:dPt>
            <c:idx val="21"/>
            <c:spPr>
              <a:solidFill>
                <a:srgbClr val="1B7F7A"/>
              </a:solidFill>
            </c:spPr>
          </c:dPt>
          <c:dPt>
            <c:idx val="22"/>
            <c:spPr>
              <a:solidFill>
                <a:srgbClr val="1B7F7A"/>
              </a:solidFill>
            </c:spPr>
          </c:dPt>
          <c:dPt>
            <c:idx val="23"/>
            <c:spPr>
              <a:solidFill>
                <a:srgbClr val="1B7F7A"/>
              </a:solidFill>
            </c:spPr>
          </c:dPt>
          <c:dPt>
            <c:idx val="24"/>
            <c:spPr>
              <a:solidFill>
                <a:srgbClr val="1B7F7A"/>
              </a:solidFill>
            </c:spPr>
          </c:dPt>
          <c:dPt>
            <c:idx val="25"/>
            <c:spPr>
              <a:solidFill>
                <a:srgbClr val="1B7F7A"/>
              </a:solidFill>
            </c:spPr>
          </c:dPt>
          <c:dPt>
            <c:idx val="26"/>
            <c:spPr>
              <a:solidFill>
                <a:srgbClr val="1B7F7A"/>
              </a:solidFill>
            </c:spPr>
          </c:dPt>
          <c:dPt>
            <c:idx val="27"/>
            <c:spPr>
              <a:solidFill>
                <a:srgbClr val="1B7F7A"/>
              </a:solidFill>
            </c:spPr>
          </c:dPt>
          <c:dPt>
            <c:idx val="28"/>
            <c:spPr>
              <a:solidFill>
                <a:srgbClr val="1B7F7A"/>
              </a:solidFill>
            </c:spPr>
          </c:dPt>
          <c:dPt>
            <c:idx val="29"/>
            <c:spPr>
              <a:solidFill>
                <a:srgbClr val="F0634F"/>
              </a:solidFill>
            </c:spPr>
          </c:dPt>
          <c:dPt>
            <c:idx val="30"/>
            <c:spPr>
              <a:solidFill>
                <a:srgbClr val="F0634F"/>
              </a:solidFill>
            </c:spPr>
          </c:dPt>
          <c:dPt>
            <c:idx val="31"/>
            <c:spPr>
              <a:solidFill>
                <a:srgbClr val="F0634F"/>
              </a:solidFill>
            </c:spPr>
          </c:dPt>
          <c:dPt>
            <c:idx val="32"/>
            <c:spPr>
              <a:solidFill>
                <a:srgbClr val="F0634F"/>
              </a:solidFill>
            </c:spPr>
          </c:dPt>
          <c:dPt>
            <c:idx val="33"/>
            <c:spPr>
              <a:solidFill>
                <a:srgbClr val="F0634F"/>
              </a:solidFill>
            </c:spPr>
          </c:dPt>
          <c:cat>
            <c:strRef>
              <c:f>Sheet1!$A$2:$A$35</c:f>
              <c:strCache>
                <c:ptCount val="34"/>
                <c:pt idx="0">
                  <c:v>Sneathia</c:v>
                </c:pt>
                <c:pt idx="1">
                  <c:v>Streptobacillus</c:v>
                </c:pt>
                <c:pt idx="2">
                  <c:v>Staphylococcus</c:v>
                </c:pt>
                <c:pt idx="3">
                  <c:v>Leptotrichia</c:v>
                </c:pt>
                <c:pt idx="4">
                  <c:v>Escherichia-Shigella</c:v>
                </c:pt>
                <c:pt idx="5">
                  <c:v>Campylobacter</c:v>
                </c:pt>
                <c:pt idx="6">
                  <c:v>Moraxella</c:v>
                </c:pt>
                <c:pt idx="7">
                  <c:v>Pseudomonas</c:v>
                </c:pt>
                <c:pt idx="8">
                  <c:v>Helicobacter</c:v>
                </c:pt>
                <c:pt idx="9">
                  <c:v>Cutibacterium</c:v>
                </c:pt>
                <c:pt idx="10">
                  <c:v>Porphyromonas</c:v>
                </c:pt>
                <c:pt idx="11">
                  <c:v>Corynebacterium</c:v>
                </c:pt>
                <c:pt idx="12">
                  <c:v>Streptococcus</c:v>
                </c:pt>
                <c:pt idx="13">
                  <c:v>Bacteroides</c:v>
                </c:pt>
                <c:pt idx="14">
                  <c:v>Cetobacterium</c:v>
                </c:pt>
                <c:pt idx="15">
                  <c:v>Actinomyces</c:v>
                </c:pt>
                <c:pt idx="16">
                  <c:v>Micrococcus</c:v>
                </c:pt>
                <c:pt idx="17">
                  <c:v>Tannerella</c:v>
                </c:pt>
                <c:pt idx="18">
                  <c:v>Clostridium sensu stricto 1</c:v>
                </c:pt>
                <c:pt idx="19">
                  <c:v>Bifidobacterium</c:v>
                </c:pt>
                <c:pt idx="20">
                  <c:v>Enterococcus</c:v>
                </c:pt>
                <c:pt idx="21">
                  <c:v>Ruminococcus</c:v>
                </c:pt>
                <c:pt idx="22">
                  <c:v>Neisseria</c:v>
                </c:pt>
                <c:pt idx="23">
                  <c:v>Alistipes</c:v>
                </c:pt>
                <c:pt idx="24">
                  <c:v>Lactobacillus</c:v>
                </c:pt>
                <c:pt idx="25">
                  <c:v>Acinetobacter</c:v>
                </c:pt>
                <c:pt idx="26">
                  <c:v>Prevotella</c:v>
                </c:pt>
                <c:pt idx="27">
                  <c:v>Fusobacterium</c:v>
                </c:pt>
                <c:pt idx="28">
                  <c:v>Parabacteroides</c:v>
                </c:pt>
                <c:pt idx="29">
                  <c:v>Salmonella</c:v>
                </c:pt>
                <c:pt idx="30">
                  <c:v>Lachnospira</c:v>
                </c:pt>
                <c:pt idx="31">
                  <c:v>Anaerostipes</c:v>
                </c:pt>
                <c:pt idx="32">
                  <c:v>Enterobacter</c:v>
                </c:pt>
                <c:pt idx="33">
                  <c:v>Blautia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100.0</c:v>
                </c:pt>
                <c:pt idx="1">
                  <c:v>100.0</c:v>
                </c:pt>
                <c:pt idx="2">
                  <c:v>94.0</c:v>
                </c:pt>
                <c:pt idx="3">
                  <c:v>93.7</c:v>
                </c:pt>
                <c:pt idx="4">
                  <c:v>91.9</c:v>
                </c:pt>
                <c:pt idx="5">
                  <c:v>91.0</c:v>
                </c:pt>
                <c:pt idx="6">
                  <c:v>90.7</c:v>
                </c:pt>
                <c:pt idx="7">
                  <c:v>89.5</c:v>
                </c:pt>
                <c:pt idx="8">
                  <c:v>85.9</c:v>
                </c:pt>
                <c:pt idx="9">
                  <c:v>84.2</c:v>
                </c:pt>
                <c:pt idx="10">
                  <c:v>80.7</c:v>
                </c:pt>
                <c:pt idx="11">
                  <c:v>79.7</c:v>
                </c:pt>
                <c:pt idx="12">
                  <c:v>78.5</c:v>
                </c:pt>
                <c:pt idx="13">
                  <c:v>75.3</c:v>
                </c:pt>
                <c:pt idx="14">
                  <c:v>75.0</c:v>
                </c:pt>
                <c:pt idx="15">
                  <c:v>72.0</c:v>
                </c:pt>
                <c:pt idx="16">
                  <c:v>66.3</c:v>
                </c:pt>
                <c:pt idx="17">
                  <c:v>63.9</c:v>
                </c:pt>
                <c:pt idx="18">
                  <c:v>61.8</c:v>
                </c:pt>
                <c:pt idx="19">
                  <c:v>61.3</c:v>
                </c:pt>
                <c:pt idx="20">
                  <c:v>60.6</c:v>
                </c:pt>
                <c:pt idx="21">
                  <c:v>57.8</c:v>
                </c:pt>
                <c:pt idx="22">
                  <c:v>56.9</c:v>
                </c:pt>
                <c:pt idx="23">
                  <c:v>55.9</c:v>
                </c:pt>
                <c:pt idx="24">
                  <c:v>55.1</c:v>
                </c:pt>
                <c:pt idx="25">
                  <c:v>55.0</c:v>
                </c:pt>
                <c:pt idx="26">
                  <c:v>54.6</c:v>
                </c:pt>
                <c:pt idx="27">
                  <c:v>54.0</c:v>
                </c:pt>
                <c:pt idx="28">
                  <c:v>51.5</c:v>
                </c:pt>
                <c:pt idx="29">
                  <c:v>43.9</c:v>
                </c:pt>
                <c:pt idx="30">
                  <c:v>17.7</c:v>
                </c:pt>
                <c:pt idx="31">
                  <c:v>13.8</c:v>
                </c:pt>
                <c:pt idx="32">
                  <c:v>5.7</c:v>
                </c:pt>
                <c:pt idx="33">
                  <c:v>5.6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>
                  <a:solidFill>
                    <a:srgbClr val="1F2A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800">
                <a:solidFill>
                  <a:srgbClr val="1F2A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E2E1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coverage (%)</c:v>
                </c:pt>
              </c:strCache>
            </c:strRef>
          </c:tx>
          <c:dPt>
            <c:idx val="0"/>
            <c:spPr>
              <a:solidFill>
                <a:srgbClr val="1B7F7A"/>
              </a:solidFill>
            </c:spPr>
          </c:dPt>
          <c:dPt>
            <c:idx val="1"/>
            <c:spPr>
              <a:solidFill>
                <a:srgbClr val="1B7F7A"/>
              </a:solidFill>
            </c:spPr>
          </c:dPt>
          <c:dPt>
            <c:idx val="2"/>
            <c:spPr>
              <a:solidFill>
                <a:srgbClr val="1B7F7A"/>
              </a:solidFill>
            </c:spPr>
          </c:dPt>
          <c:dPt>
            <c:idx val="3"/>
            <c:spPr>
              <a:solidFill>
                <a:srgbClr val="1B7F7A"/>
              </a:solidFill>
            </c:spPr>
          </c:dPt>
          <c:dPt>
            <c:idx val="4"/>
            <c:spPr>
              <a:solidFill>
                <a:srgbClr val="1B7F7A"/>
              </a:solidFill>
            </c:spPr>
          </c:dPt>
          <c:dPt>
            <c:idx val="5"/>
            <c:spPr>
              <a:solidFill>
                <a:srgbClr val="1B7F7A"/>
              </a:solidFill>
            </c:spPr>
          </c:dPt>
          <c:dPt>
            <c:idx val="6"/>
            <c:spPr>
              <a:solidFill>
                <a:srgbClr val="1B7F7A"/>
              </a:solidFill>
            </c:spPr>
          </c:dPt>
          <c:dPt>
            <c:idx val="7"/>
            <c:spPr>
              <a:solidFill>
                <a:srgbClr val="1B7F7A"/>
              </a:solidFill>
            </c:spPr>
          </c:dPt>
          <c:dPt>
            <c:idx val="8"/>
            <c:spPr>
              <a:solidFill>
                <a:srgbClr val="1B7F7A"/>
              </a:solidFill>
            </c:spPr>
          </c:dPt>
          <c:dPt>
            <c:idx val="9"/>
            <c:spPr>
              <a:solidFill>
                <a:srgbClr val="1B7F7A"/>
              </a:solidFill>
            </c:spPr>
          </c:dPt>
          <c:dPt>
            <c:idx val="10"/>
            <c:spPr>
              <a:solidFill>
                <a:srgbClr val="1B7F7A"/>
              </a:solidFill>
            </c:spPr>
          </c:dPt>
          <c:dPt>
            <c:idx val="11"/>
            <c:spPr>
              <a:solidFill>
                <a:srgbClr val="1B7F7A"/>
              </a:solidFill>
            </c:spPr>
          </c:dPt>
          <c:dPt>
            <c:idx val="12"/>
            <c:spPr>
              <a:solidFill>
                <a:srgbClr val="1B7F7A"/>
              </a:solidFill>
            </c:spPr>
          </c:dPt>
          <c:dPt>
            <c:idx val="13"/>
            <c:spPr>
              <a:solidFill>
                <a:srgbClr val="1B7F7A"/>
              </a:solidFill>
            </c:spPr>
          </c:dPt>
          <c:dPt>
            <c:idx val="14"/>
            <c:spPr>
              <a:solidFill>
                <a:srgbClr val="1B7F7A"/>
              </a:solidFill>
            </c:spPr>
          </c:dPt>
          <c:dPt>
            <c:idx val="15"/>
            <c:spPr>
              <a:solidFill>
                <a:srgbClr val="1B7F7A"/>
              </a:solidFill>
            </c:spPr>
          </c:dPt>
          <c:dPt>
            <c:idx val="16"/>
            <c:spPr>
              <a:solidFill>
                <a:srgbClr val="1B7F7A"/>
              </a:solidFill>
            </c:spPr>
          </c:dPt>
          <c:dPt>
            <c:idx val="17"/>
            <c:spPr>
              <a:solidFill>
                <a:srgbClr val="1B7F7A"/>
              </a:solidFill>
            </c:spPr>
          </c:dPt>
          <c:dPt>
            <c:idx val="18"/>
            <c:spPr>
              <a:solidFill>
                <a:srgbClr val="1B7F7A"/>
              </a:solidFill>
            </c:spPr>
          </c:dPt>
          <c:dPt>
            <c:idx val="19"/>
            <c:spPr>
              <a:solidFill>
                <a:srgbClr val="1B7F7A"/>
              </a:solidFill>
            </c:spPr>
          </c:dPt>
          <c:dPt>
            <c:idx val="20"/>
            <c:spPr>
              <a:solidFill>
                <a:srgbClr val="1B7F7A"/>
              </a:solidFill>
            </c:spPr>
          </c:dPt>
          <c:dPt>
            <c:idx val="21"/>
            <c:spPr>
              <a:solidFill>
                <a:srgbClr val="1B7F7A"/>
              </a:solidFill>
            </c:spPr>
          </c:dPt>
          <c:dPt>
            <c:idx val="22"/>
            <c:spPr>
              <a:solidFill>
                <a:srgbClr val="1B7F7A"/>
              </a:solidFill>
            </c:spPr>
          </c:dPt>
          <c:dPt>
            <c:idx val="23"/>
            <c:spPr>
              <a:solidFill>
                <a:srgbClr val="1B7F7A"/>
              </a:solidFill>
            </c:spPr>
          </c:dPt>
          <c:dPt>
            <c:idx val="24"/>
            <c:spPr>
              <a:solidFill>
                <a:srgbClr val="1B7F7A"/>
              </a:solidFill>
            </c:spPr>
          </c:dPt>
          <c:cat>
            <c:strRef>
              <c:f>Sheet1!$A$2:$A$26</c:f>
              <c:strCache>
                <c:ptCount val="25"/>
                <c:pt idx="0">
                  <c:v>Campylobacteraceae</c:v>
                </c:pt>
                <c:pt idx="1">
                  <c:v>Staphylococcaceae</c:v>
                </c:pt>
                <c:pt idx="2">
                  <c:v>Pseudomonadaceae</c:v>
                </c:pt>
                <c:pt idx="3">
                  <c:v>Helicobacteraceae</c:v>
                </c:pt>
                <c:pt idx="4">
                  <c:v>Bifidobacteriaceae</c:v>
                </c:pt>
                <c:pt idx="5">
                  <c:v>Leptotrichiaceae</c:v>
                </c:pt>
                <c:pt idx="6">
                  <c:v>Porphyromonadaceae</c:v>
                </c:pt>
                <c:pt idx="7">
                  <c:v>Corynebacteriaceae</c:v>
                </c:pt>
                <c:pt idx="8">
                  <c:v>Lachnospiraceae</c:v>
                </c:pt>
                <c:pt idx="9">
                  <c:v>Bacteroidaceae</c:v>
                </c:pt>
                <c:pt idx="10">
                  <c:v>Propionibacteriaceae</c:v>
                </c:pt>
                <c:pt idx="11">
                  <c:v>Streptococcaceae</c:v>
                </c:pt>
                <c:pt idx="12">
                  <c:v>Neisseriaceae</c:v>
                </c:pt>
                <c:pt idx="13">
                  <c:v>Actinomycetaceae</c:v>
                </c:pt>
                <c:pt idx="14">
                  <c:v>Enterobacteriaceae</c:v>
                </c:pt>
                <c:pt idx="15">
                  <c:v>Clostridiaceae</c:v>
                </c:pt>
                <c:pt idx="16">
                  <c:v>Micrococcaceae</c:v>
                </c:pt>
                <c:pt idx="17">
                  <c:v>Fusobacteriaceae</c:v>
                </c:pt>
                <c:pt idx="18">
                  <c:v>Lactobacillaceae</c:v>
                </c:pt>
                <c:pt idx="19">
                  <c:v>Enterococcaceae</c:v>
                </c:pt>
                <c:pt idx="20">
                  <c:v>Tannerellaceae</c:v>
                </c:pt>
                <c:pt idx="21">
                  <c:v>Moraxellaceae</c:v>
                </c:pt>
                <c:pt idx="22">
                  <c:v>Prevotellaceae</c:v>
                </c:pt>
                <c:pt idx="23">
                  <c:v>Ruminococcaceae</c:v>
                </c:pt>
                <c:pt idx="24">
                  <c:v>Rikenellaceae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91.0</c:v>
                </c:pt>
                <c:pt idx="1">
                  <c:v>90.7</c:v>
                </c:pt>
                <c:pt idx="2">
                  <c:v>87.1</c:v>
                </c:pt>
                <c:pt idx="3">
                  <c:v>85.6</c:v>
                </c:pt>
                <c:pt idx="4">
                  <c:v>85.0</c:v>
                </c:pt>
                <c:pt idx="5">
                  <c:v>83.1</c:v>
                </c:pt>
                <c:pt idx="6">
                  <c:v>80.3</c:v>
                </c:pt>
                <c:pt idx="7">
                  <c:v>79.6</c:v>
                </c:pt>
                <c:pt idx="8">
                  <c:v>79.2</c:v>
                </c:pt>
                <c:pt idx="9">
                  <c:v>75.3</c:v>
                </c:pt>
                <c:pt idx="10">
                  <c:v>75.0</c:v>
                </c:pt>
                <c:pt idx="11">
                  <c:v>74.9</c:v>
                </c:pt>
                <c:pt idx="12">
                  <c:v>74.0</c:v>
                </c:pt>
                <c:pt idx="13">
                  <c:v>73.7</c:v>
                </c:pt>
                <c:pt idx="14">
                  <c:v>73.5</c:v>
                </c:pt>
                <c:pt idx="15">
                  <c:v>70.7</c:v>
                </c:pt>
                <c:pt idx="16">
                  <c:v>67.4</c:v>
                </c:pt>
                <c:pt idx="17">
                  <c:v>66.3</c:v>
                </c:pt>
                <c:pt idx="18">
                  <c:v>59.1</c:v>
                </c:pt>
                <c:pt idx="19">
                  <c:v>58.6</c:v>
                </c:pt>
                <c:pt idx="20">
                  <c:v>58.0</c:v>
                </c:pt>
                <c:pt idx="21">
                  <c:v>57.7</c:v>
                </c:pt>
                <c:pt idx="22">
                  <c:v>56.7</c:v>
                </c:pt>
                <c:pt idx="23">
                  <c:v>53.8</c:v>
                </c:pt>
                <c:pt idx="24">
                  <c:v>51.1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solidFill>
                    <a:srgbClr val="1F2A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900">
                <a:solidFill>
                  <a:srgbClr val="1F2A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E2E1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Pooled coverage (%)</c:v>
                </c:pt>
              </c:strCache>
            </c:strRef>
          </c:tx>
          <c:dPt>
            <c:idx val="0"/>
            <c:spPr>
              <a:solidFill>
                <a:srgbClr val="1B7F7A"/>
              </a:solidFill>
            </c:spPr>
          </c:dPt>
          <c:dPt>
            <c:idx val="1"/>
            <c:spPr>
              <a:solidFill>
                <a:srgbClr val="1B7F7A"/>
              </a:solidFill>
            </c:spPr>
          </c:dPt>
          <c:dPt>
            <c:idx val="2"/>
            <c:spPr>
              <a:solidFill>
                <a:srgbClr val="F0634F"/>
              </a:solidFill>
            </c:spPr>
          </c:dPt>
          <c:dPt>
            <c:idx val="3"/>
            <c:spPr>
              <a:solidFill>
                <a:srgbClr val="F0634F"/>
              </a:solidFill>
            </c:spPr>
          </c:dPt>
          <c:dPt>
            <c:idx val="4"/>
            <c:spPr>
              <a:solidFill>
                <a:srgbClr val="F0634F"/>
              </a:solidFill>
            </c:spPr>
          </c:dPt>
          <c:dPt>
            <c:idx val="5"/>
            <c:spPr>
              <a:solidFill>
                <a:srgbClr val="F0634F"/>
              </a:solidFill>
            </c:spPr>
          </c:dPt>
          <c:dPt>
            <c:idx val="6"/>
            <c:spPr>
              <a:solidFill>
                <a:srgbClr val="F0634F"/>
              </a:solidFill>
            </c:spPr>
          </c:dPt>
          <c:cat>
            <c:strRef>
              <c:f>Sheet1!$A$2:$A$8</c:f>
              <c:strCache>
                <c:ptCount val="7"/>
                <c:pt idx="0">
                  <c:v>Helicobacter pylori</c:v>
                </c:pt>
                <c:pt idx="1">
                  <c:v>Fusobacterium nucleatum</c:v>
                </c:pt>
                <c:pt idx="2">
                  <c:v>Escherichia coli</c:v>
                </c:pt>
                <c:pt idx="3">
                  <c:v>Cutibacterium acnes</c:v>
                </c:pt>
                <c:pt idx="4">
                  <c:v>Prevotella jejuni</c:v>
                </c:pt>
                <c:pt idx="5">
                  <c:v>Campylobacter jejuni</c:v>
                </c:pt>
                <c:pt idx="6">
                  <c:v>Enterobacter hormaechei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82.2</c:v>
                </c:pt>
                <c:pt idx="1">
                  <c:v>50.4</c:v>
                </c:pt>
                <c:pt idx="2">
                  <c:v>3.3</c:v>
                </c:pt>
                <c:pt idx="3">
                  <c:v>2.5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1F2A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1100">
                <a:solidFill>
                  <a:srgbClr val="1F2A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tickLblSkip val="1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E2E1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B3C49"/>
                </a:solidFill>
              </a:rPr>
              <a:t>Probes by BLAST weighted specificity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 non-target hits count</c:v>
                </c:pt>
              </c:strCache>
            </c:strRef>
          </c:tx>
          <c:spPr>
            <a:solidFill>
              <a:srgbClr val="5F6B70"/>
            </a:solidFill>
          </c:spPr>
          <c:cat>
            <c:strRef>
              <c:f>Sheet1!$A$2:$A$5</c:f>
              <c:strCache>
                <c:ptCount val="4"/>
                <c:pt idx="0">
                  <c:v>Specific
(≥ 0.95)</c:v>
                </c:pt>
                <c:pt idx="1">
                  <c:v>Moderate
(0.80–0.95)</c:v>
                </c:pt>
                <c:pt idx="2">
                  <c:v>Low
(&lt; 0.80)</c:v>
                </c:pt>
                <c:pt idx="3">
                  <c:v>Reaches &lt; 10%
of species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5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Unnamed same-genus set aside</c:v>
                </c:pt>
              </c:strCache>
            </c:strRef>
          </c:tx>
          <c:spPr>
            <a:solidFill>
              <a:srgbClr val="1B7F7A"/>
            </a:solidFill>
          </c:spPr>
          <c:cat>
            <c:strRef>
              <c:f>Sheet1!$A$2:$A$5</c:f>
              <c:strCache>
                <c:ptCount val="4"/>
                <c:pt idx="0">
                  <c:v>Specific
(≥ 0.95)</c:v>
                </c:pt>
                <c:pt idx="1">
                  <c:v>Moderate
(0.80–0.95)</c:v>
                </c:pt>
                <c:pt idx="2">
                  <c:v>Low
(&lt; 0.80)</c:v>
                </c:pt>
                <c:pt idx="3">
                  <c:v>Reaches &lt; 10%
of species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5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2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9E2E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F6B70"/>
                </a:solidFill>
              </a:defRPr>
            </a:pPr>
          </a:p>
        </c:txPr>
        <c:crossAx val="-2068027336"/>
        <c:crosses val="autoZero"/>
        <c:majorUnit val="5.0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bac-probes designs short 16S rRNA probes that are specific to a taxon, using SILVA as the reference. This deck covers the tool, the KAN2M3 design runs at four taxonomic levels, and the validation of an external probe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stages. Candidates come from the target's own sequences; specificity is checked against everything else in SILVA, first exactly and then with BLAST for near-matches; selection then assembles a small pool of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a mismatch near the probe centre destabilises binding, so an off-target with a central mismatch counts for almost nothing; one with only end mismatches counts almost fully. Right: the selection rules used for every taxon.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phylum reaches 50% pooled coverage at a floor of 0.99 or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off-targets are the other large phyla, mostly Firmicutes and Proteobacteria, as near-matches.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genera fall short; they sit in crowded families where BLAST finds near-matches in sister genera.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Coral = below the 50% goal. Floor = the specificity floor that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family reaches 50% pooled coverage; floors range from 0.98 to 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Coral would mark families below 50%; none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Fusobacterium nucleatum reaches 50% at floor 0.95; Helicobacter pylori reaches 82% at floor 1.0. The rest are limited by 16S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these species, genus- or family-level probes or a non-16S marker gene are the practical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Strains and subspecies count as the target species. Most probes match few SILVA sequences exactly but near-match almost all, suggesting they come from one reference strain.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= every non-target hit counts. Excl. unnamed = unnamed sequences in the species' own genus are set aside, since they may be the species itself. Truth lies between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0634F"/>
                </a:solidFill>
                <a:latin typeface="Arial"/>
              </a:rPr>
              <a:t>KAN2M3 PROBE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bac-probes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DDEFEC"/>
                </a:solidFill>
                <a:latin typeface="Arial"/>
              </a:rPr>
              <a:t>Designing taxon-specific 16S rRNA probes for Xenium in-situ imaging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091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DEFEC"/>
                </a:solidFill>
                <a:latin typeface="Arial"/>
              </a:rPr>
              <a:t>taxa designed across
phylum, family, genus, species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8404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815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7091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DEFEC"/>
                </a:solidFill>
                <a:latin typeface="Arial"/>
              </a:rPr>
              <a:t>probes selected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8404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62 / 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7091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DEFEC"/>
                </a:solidFill>
                <a:latin typeface="Arial"/>
              </a:rPr>
              <a:t>taxa reach 50% pooled
coverage with specific probes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DEFEC"/>
                </a:solidFill>
                <a:latin typeface="Arial"/>
              </a:rPr>
              <a:t>Reference: SILVA 138.1 SSURef NR99  ·  510,508 16S sequences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How bac-probes designs probes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One run handles any number of taxa: SILVA is read twice in total, with work spread across CPU 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2</a:t>
            </a:r>
          </a:p>
        </p:txBody>
      </p:sp>
      <p:sp>
        <p:nvSpPr>
          <p:cNvPr id="6" name="Step 1"/>
          <p:cNvSpPr/>
          <p:nvPr/>
        </p:nvSpPr>
        <p:spPr>
          <a:xfrm>
            <a:off x="548640" y="16002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Arial"/>
              </a:rPr>
              <a:t>Find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Every 32-mer present in at least a set share of the taxon's SILVA sequences (10% for phyla, 2% otherwise), GC 35–65%, no homopolymer runs of 5+.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91256" y="2834640"/>
            <a:ext cx="173736" cy="274320"/>
          </a:xfrm>
          <a:prstGeom prst="rightArrow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ep 2"/>
          <p:cNvSpPr/>
          <p:nvPr/>
        </p:nvSpPr>
        <p:spPr>
          <a:xfrm>
            <a:off x="3401568" y="16002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0168" y="1810512"/>
            <a:ext cx="457200" cy="457200"/>
          </a:xfrm>
          <a:prstGeom prst="ellipse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Arial"/>
              </a:rPr>
              <a:t>Exact off-target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8346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One pass over all 510,508 SILVA sequences counts exact matches outside the taxon, giving each candidate an exact precision.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44184" y="2834640"/>
            <a:ext cx="173736" cy="274320"/>
          </a:xfrm>
          <a:prstGeom prst="rightArrow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ep 3"/>
          <p:cNvSpPr/>
          <p:nvPr/>
        </p:nvSpPr>
        <p:spPr>
          <a:xfrm>
            <a:off x="6254496" y="16002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3096" y="1810512"/>
            <a:ext cx="457200" cy="457200"/>
          </a:xfrm>
          <a:prstGeom prst="ellipse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Arial"/>
              </a:rPr>
              <a:t>BLAST near-misses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Up to 120 of the best candidates per taxon are BLASTed. Off-target near-matches are weighted by where their mismatches fall in the probe.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97111" y="2834640"/>
            <a:ext cx="173736" cy="274320"/>
          </a:xfrm>
          <a:prstGeom prst="rightArrow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4"/>
          <p:cNvSpPr/>
          <p:nvPr/>
        </p:nvSpPr>
        <p:spPr>
          <a:xfrm>
            <a:off x="9107424" y="16002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36024" y="1810512"/>
            <a:ext cx="457200" cy="457200"/>
          </a:xfrm>
          <a:prstGeom prst="ellipse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B3C49"/>
                </a:solidFill>
                <a:latin typeface="Arial"/>
              </a:rPr>
              <a:t>Pooled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834640"/>
            <a:ext cx="2148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Up to 15 probes, spaced at least 10 bp apart, that together cover 50% of the taxon, at the strictest specificity that gets there.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3C49"/>
                </a:solidFill>
                <a:latin typeface="Arial"/>
              </a:rPr>
              <a:t>Two commands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6766560" cy="475488"/>
          </a:xfrm>
          <a:prstGeom prst="roundRect">
            <a:avLst>
              <a:gd name="adj" fmla="val 15000"/>
            </a:avLst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83480"/>
            <a:ext cx="6492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bac-probes design  silva.fasta.gz  taxa.csv  --blast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983480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A30"/>
                </a:solidFill>
                <a:latin typeface="Arial"/>
              </a:rPr>
              <a:t>taxa → candidate tables + selected probe 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05272"/>
            <a:ext cx="6766560" cy="475488"/>
          </a:xfrm>
          <a:prstGeom prst="roundRect">
            <a:avLst>
              <a:gd name="adj" fmla="val 15000"/>
            </a:avLst>
          </a:prstGeom>
          <a:solidFill>
            <a:srgbClr val="0B3C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05272"/>
            <a:ext cx="6492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bac-probes validate  silva.fasta.gz  probes.csv  --blast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5605272"/>
            <a:ext cx="4114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A30"/>
                </a:solidFill>
                <a:latin typeface="Arial"/>
              </a:rPr>
              <a:t>existing probes → coverage + specificity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Scoring specificity and choosing probes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Near-matches are weighted by mismatch position; selection favours the strictest probes that still pool to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548640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3C49"/>
                </a:solidFill>
                <a:latin typeface="Arial"/>
              </a:rPr>
              <a:t>Central mismatch → weight ≈ 1: </a:t>
            </a:r>
            <a:r>
              <a:rPr sz="1200" b="0" i="0">
                <a:solidFill>
                  <a:srgbClr val="1F2A30"/>
                </a:solidFill>
                <a:latin typeface="Arial"/>
              </a:rPr>
              <a:t>the off-target is unlikely to bind and barely counts.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3C49"/>
                </a:solidFill>
                <a:latin typeface="Arial"/>
              </a:rPr>
              <a:t>End mismatch → weight ≈ 0: </a:t>
            </a:r>
            <a:r>
              <a:rPr sz="1200" b="0" i="0">
                <a:solidFill>
                  <a:srgbClr val="1F2A30"/>
                </a:solidFill>
                <a:latin typeface="Arial"/>
              </a:rPr>
              <a:t>it may still bind and counts almost fully.</a:t>
            </a:r>
          </a:p>
        </p:txBody>
      </p:sp>
      <p:sp>
        <p:nvSpPr>
          <p:cNvPr id="8" name="Oval 7"/>
          <p:cNvSpPr/>
          <p:nvPr/>
        </p:nvSpPr>
        <p:spPr>
          <a:xfrm>
            <a:off x="6537960" y="1645920"/>
            <a:ext cx="384048" cy="384048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27632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3C49"/>
                </a:solidFill>
                <a:latin typeface="Arial"/>
              </a:rPr>
              <a:t>Strictest floor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75104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Try specificity floors 1.0 → 0.999 → … → 0.90 and keep the strictest whose probe set reaches 50% pooled coverage.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2761488"/>
            <a:ext cx="384048" cy="384048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4320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3C49"/>
                </a:solidFill>
                <a:latin typeface="Arial"/>
              </a:rPr>
              <a:t>Greedy, spaced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90672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Each pick covers the most not-yet-covered sequences; probes binding the same sequence stay at least 10 bp apart so they don't compete.</a:t>
            </a:r>
          </a:p>
        </p:txBody>
      </p:sp>
      <p:sp>
        <p:nvSpPr>
          <p:cNvPr id="14" name="Oval 13"/>
          <p:cNvSpPr/>
          <p:nvPr/>
        </p:nvSpPr>
        <p:spPr>
          <a:xfrm>
            <a:off x="6537960" y="3877056"/>
            <a:ext cx="384048" cy="384048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58768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3C49"/>
                </a:solidFill>
                <a:latin typeface="Arial"/>
              </a:rPr>
              <a:t>Species-aware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206240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Strains and subspecies count as the species; unnamed sequences in its genus can be set aside.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4992624"/>
            <a:ext cx="384048" cy="384048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974336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B3C49"/>
                </a:solidFill>
                <a:latin typeface="Arial"/>
              </a:rPr>
              <a:t>Reproducible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321808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Ties are broken on the sequence itself, and every run records its exact command in command.txt.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Phylum: all 6 phyla reach the 50% goal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BLAST  ·  candidates in ≥ 10% of each phylum's sequences  ·  BLAST cap raised to 200,000 hits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phyla reach 50% pooled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selected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0.99–1.0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range of specificity floors used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17320"/>
          <a:ext cx="77724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4023360" y="6181344"/>
            <a:ext cx="146304" cy="146304"/>
          </a:xfrm>
          <a:prstGeom prst="rect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reaches 50%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181344"/>
            <a:ext cx="146304" cy="146304"/>
          </a:xfrm>
          <a:prstGeom prst="rect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below 50% goal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Phylum: 6–15 probes per phylum at floors of 0.99 or stricter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Each probe covers 10–43% of its phylum alone; pooling several gets every phylum past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1234440"/>
                <a:gridCol w="822960"/>
                <a:gridCol w="868680"/>
                <a:gridCol w="1051560"/>
                <a:gridCol w="1463040"/>
                <a:gridCol w="3611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Phylum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Sequences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Per probe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Main BLAST off-targets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Firmicutes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117,419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54.8%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10–16%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Proteobacteria, Actinobacteriota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Proteobacteria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136,158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56.4%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10–23%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Firmicutes, Actinobacteriota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Bacteroidota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46,851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61.4%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10–40%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Proteobacteria, Planctomycetota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Actinobacteriota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39,596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74.4%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10–34%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Firmicutes, Proteobacteria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Fusobacteriota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1,838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85.0%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11–43%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Proteobacteria, Firmicutes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F2A30"/>
                          </a:solidFill>
                          <a:latin typeface="Arial"/>
                        </a:rPr>
                        <a:t>Campylobacterota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4,820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63.7%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10–23%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Bacteroidota, Firmicutes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5321808"/>
            <a:ext cx="457200" cy="457200"/>
          </a:xfrm>
          <a:prstGeom prst="ellipse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5212080"/>
            <a:ext cx="9966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A30"/>
                </a:solidFill>
                <a:latin typeface="Arial"/>
              </a:rPr>
              <a:t>Main off-targets are near-matches in the other large phyla. Probes on the same molecule sit at least 10 bp apart; variants of one site for different organisms are allowed.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Genus: 29 of 34 genera reach 50% pooled coverage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BLAST  ·  candidates in ≥ 2% of each genus's sequences  ·  'Clostridium' = SILVA's Clostridium sensu stricto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0634F"/>
                </a:solidFill>
                <a:latin typeface="Arial"/>
              </a:rPr>
              <a:t>29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genera reach 50% pooled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394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selected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0.9–1.0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range of specificity floors used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17320"/>
          <a:ext cx="77724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4023360" y="6181344"/>
            <a:ext cx="146304" cy="146304"/>
          </a:xfrm>
          <a:prstGeom prst="rect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reaches 50%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181344"/>
            <a:ext cx="146304" cy="146304"/>
          </a:xfrm>
          <a:prstGeom prst="rect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below 50% goal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Genus: genera in crowded families fall short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Lachnospira, Blautia, Anaerostipes, Enterobacter, Salmonella miss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5349240" cy="46908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868680"/>
                <a:gridCol w="868680"/>
                <a:gridCol w="1051560"/>
              </a:tblGrid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Genus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Staphylococcus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94.0%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Streptococcus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78.5%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Enterococcus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60.6%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Lactobacillus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55.1%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Clostridium s.s. 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61.8%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Lachnospira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17.7%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Blautia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5.6%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Anaerostipes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13.8%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Ruminococcus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57.8%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Escherichia-Shigella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91.9%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Enterobacter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5.7%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Salmonella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F0634F"/>
                          </a:solidFill>
                          <a:latin typeface="Arial"/>
                        </a:rPr>
                        <a:t>43.9%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Pseudomonas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89.5%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Moraxella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90.7%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Acinetobacter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55.0%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Neisseria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56.9%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Bacteroides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75.3%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19" y="1508760"/>
          <a:ext cx="5349240" cy="46908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868680"/>
                <a:gridCol w="868680"/>
                <a:gridCol w="1051560"/>
              </a:tblGrid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Genus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Prevotella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54.6%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Porphyromonas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80.7%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Tannerella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63.9%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Parabacteroides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51.5%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Alistipes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55.9%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Cutibacterium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84.2%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Corynebacterium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79.7%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Actinomyces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72.0%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Bifidobacterium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61.3%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Micrococcus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66.3%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Fusobacterium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54.0%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Cetobacterium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75.0%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Leptotrichia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93.7%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Sneathia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Streptobacillus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Campylobacter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91.0%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Helicobacter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85.9%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Family: all 25 families reach the 50% goal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BLAST  ·  candidates in ≥ 2% of each family's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families reach 50% pooled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349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selected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0.98–1.0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range of specificity floors used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17320"/>
          <a:ext cx="77724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4023360" y="6181344"/>
            <a:ext cx="146304" cy="146304"/>
          </a:xfrm>
          <a:prstGeom prst="rect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reaches 50%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181344"/>
            <a:ext cx="146304" cy="146304"/>
          </a:xfrm>
          <a:prstGeom prst="rect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below 50% goal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Family: specific probes even for the crowded families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Lachnospiraceae needs the loosest floor (0.98); isolated families reach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5349240" cy="4608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960120"/>
                <a:gridCol w="685800"/>
                <a:gridCol w="731520"/>
                <a:gridCol w="8686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Sequences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Staphylococcaceae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6,637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90.7%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Streptococcaceae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7,739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74.9%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Enterococcaceae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2,134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58.6%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Lactobacillaceae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6,372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59.1%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Clostridiaceae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3,662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70.7%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Lachnospiraceae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23,099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79.2%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Ruminococcaceae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5,904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53.8%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Enterobacteriaceae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20,869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73.5%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Pseudomonadaceae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9,419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87.1%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Moraxellaceae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4,720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57.7%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Neisseriaceae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1,795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74.0%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Bacteroidaceae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3,747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75.3%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Prevotellaceae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5,132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56.7%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19" y="1508760"/>
          <a:ext cx="5349240" cy="4279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960120"/>
                <a:gridCol w="685800"/>
                <a:gridCol w="731520"/>
                <a:gridCol w="8686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Family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Sequences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Porphyromonadaceae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80.3%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Tannerellaceae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58.0%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Rikenellaceae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2,864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51.1%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Propionibacteriaceae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2,495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75.0%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Corynebacteriaceae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3,781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79.6%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Actinomycetaceae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967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73.7%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Bifidobacteriaceae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85.0%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Micrococcaceae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3,153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0.995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67.4%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Fusobacteriaceae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1,348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66.3%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Leptotrichiaceae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83.1%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Campylobacteraceae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1,035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91.0%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Arial"/>
                        </a:rPr>
                        <a:t>Helicobacteraceae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686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A30"/>
                          </a:solidFill>
                          <a:latin typeface="Arial"/>
                        </a:rPr>
                        <a:t>85.6%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Species: only H. pylori and F. nucleatum reach 50%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BLAST  ·  candidates in ≥ 2%  ·  unnamed same-genus sequences set aside (--exclude-unnamed-congeners)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0634F"/>
                </a:solidFill>
                <a:latin typeface="Arial"/>
              </a:rPr>
              <a:t>2 /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species reach 50% pooled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selected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0.9–1.0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range of specificity floors used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17320"/>
          <a:ext cx="7772400" cy="4709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4023360" y="6181344"/>
            <a:ext cx="146304" cy="146304"/>
          </a:xfrm>
          <a:prstGeom prst="rect">
            <a:avLst/>
          </a:prstGeom>
          <a:solidFill>
            <a:srgbClr val="1B7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reaches 50% goal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181344"/>
            <a:ext cx="146304" cy="146304"/>
          </a:xfrm>
          <a:prstGeom prst="rect">
            <a:avLst/>
          </a:prstGeom>
          <a:solidFill>
            <a:srgbClr val="F06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14476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6B70"/>
                </a:solidFill>
                <a:latin typeface="Arial"/>
              </a:rPr>
              <a:t>below 50% goal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Species: the limits are biological, not the settings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Sister species share near-identical 16S, so no 32-mer separates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14600"/>
                <a:gridCol w="1188720"/>
                <a:gridCol w="914400"/>
                <a:gridCol w="1005840"/>
                <a:gridCol w="54406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Sequences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Pooled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Fusobacterium nucleatum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50.4%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Reaches 50%; main cross-reactor F. periodonticum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Helicobacter pylori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82.2%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Reaches 82% with fully specific probes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Prevotella jejuni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Only 5 SILVA sequences; near-matches in P. denticola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Escherichia coli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5,267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3.3%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Indistinguishable from Shigella; close to Salmonella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Cutibacterium acnes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2.5%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1,585 Cutibacterium sequences have no species name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Campylobacter jejuni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Near-identical to C. coli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Enterobacter hormaechei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E. cloacae complex shares nearly identical 16S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B70"/>
                </a:solidFill>
                <a:latin typeface="Arial"/>
              </a:rPr>
              <a:t>Options for the others: genus- or family-level probes, or a non-16S marker gene (e.g. rpoB, gyrB).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Validation: 35 external probes, no exact off-targets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bac-probes validate --blast --exclude-unnamed-congeners on the KAN2M3 query probes (40-mers, 7 species)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exact off-target matches across all 35 probes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0634F"/>
                </a:solidFill>
                <a:latin typeface="Arial"/>
              </a:rPr>
              <a:t>31 /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probes exactly match &lt; 5% of their species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DD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7375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0B3C49"/>
                </a:solidFill>
                <a:latin typeface="Arial"/>
              </a:rPr>
              <a:t>18 / 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77840"/>
            <a:ext cx="2560320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A30"/>
                </a:solidFill>
                <a:latin typeface="Arial"/>
              </a:rPr>
              <a:t>specific (≥ 0.95) once unnamed same-genus sequences are set aside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886200" y="1463040"/>
          <a:ext cx="777240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B3C49"/>
                </a:solidFill>
                <a:latin typeface="Arial"/>
              </a:rPr>
              <a:t>Validation: best probes per species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6B70"/>
                </a:solidFill>
                <a:latin typeface="Arial"/>
              </a:rPr>
              <a:t>Probe numbers follow the order in query.csv within each species; specific = BLAST weighted specificity ≥ 0.95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bac-probes  ·  KAN2M3 probe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F6B70"/>
                </a:solidFill>
                <a:latin typeface="Arial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777240"/>
                <a:gridCol w="1600200"/>
                <a:gridCol w="1783080"/>
                <a:gridCol w="45262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(standard)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(excl. unnamed)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73152" marR="73152" marT="18288" marB="18288" anchor="ctr">
                    <a:solidFill>
                      <a:srgbClr val="0B3C4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Fusobacterium nucleatum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F0634F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Penalty mostly from unnamed Fusobacterium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Helicobacter pylori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#2, #3, #4, #6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#2, #3, #4, #6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#8: best exact coverage (59%), near-matches H. felis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Prevotella jejuni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Single probe; near-matches all 5 SILVA sequences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Escherichia coli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 near-matches 99% but exactly only 2; #1 hits Klebsiella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Cutibacterium acnes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#4, #6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#2, #4, #5, #6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#2, #5 driven down by unnamed Cutibacterium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Campylobacter jejuni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#3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#5, #6 each match a single SILVA sequence</a:t>
                      </a:r>
                    </a:p>
                  </a:txBody>
                  <a:tcPr marL="73152" marR="73152" marT="18288" marB="18288" anchor="ctr">
                    <a:solidFill>
                      <a:srgbClr val="F2F8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1">
                          <a:solidFill>
                            <a:srgbClr val="1F2A30"/>
                          </a:solidFill>
                          <a:latin typeface="Arial"/>
                        </a:rPr>
                        <a:t>Enterobacter hormaechei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#4, #5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#1, #4, #5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A30"/>
                          </a:solidFill>
                          <a:latin typeface="Arial"/>
                        </a:rPr>
                        <a:t>#2, #6 reach only 1–2 sequences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