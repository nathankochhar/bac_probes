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3C49"/>
                </a:solidFill>
              </a:rPr>
              <a:t>Protection from one mismatch, by probe position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Mismatch weight</c:v>
                </c:pt>
              </c:strCache>
            </c:strRef>
          </c:tx>
          <c:spPr>
            <a:ln w="38100">
              <a:solidFill>
                <a:srgbClr val="F0634F"/>
              </a:solidFill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0.002</c:v>
                </c:pt>
                <c:pt idx="1">
                  <c:v>0.022</c:v>
                </c:pt>
                <c:pt idx="2">
                  <c:v>0.059</c:v>
                </c:pt>
                <c:pt idx="3">
                  <c:v>0.113</c:v>
                </c:pt>
                <c:pt idx="4">
                  <c:v>0.183</c:v>
                </c:pt>
                <c:pt idx="5">
                  <c:v>0.264</c:v>
                </c:pt>
                <c:pt idx="6">
                  <c:v>0.355</c:v>
                </c:pt>
                <c:pt idx="7">
                  <c:v>0.451</c:v>
                </c:pt>
                <c:pt idx="8">
                  <c:v>0.549</c:v>
                </c:pt>
                <c:pt idx="9">
                  <c:v>0.645</c:v>
                </c:pt>
                <c:pt idx="10">
                  <c:v>0.736</c:v>
                </c:pt>
                <c:pt idx="11">
                  <c:v>0.817</c:v>
                </c:pt>
                <c:pt idx="12">
                  <c:v>0.887</c:v>
                </c:pt>
                <c:pt idx="13">
                  <c:v>0.941</c:v>
                </c:pt>
                <c:pt idx="14">
                  <c:v>0.978</c:v>
                </c:pt>
                <c:pt idx="15">
                  <c:v>0.998</c:v>
                </c:pt>
                <c:pt idx="16">
                  <c:v>0.998</c:v>
                </c:pt>
                <c:pt idx="17">
                  <c:v>0.978</c:v>
                </c:pt>
                <c:pt idx="18">
                  <c:v>0.941</c:v>
                </c:pt>
                <c:pt idx="19">
                  <c:v>0.887</c:v>
                </c:pt>
                <c:pt idx="20">
                  <c:v>0.817</c:v>
                </c:pt>
                <c:pt idx="21">
                  <c:v>0.736</c:v>
                </c:pt>
                <c:pt idx="22">
                  <c:v>0.645</c:v>
                </c:pt>
                <c:pt idx="23">
                  <c:v>0.549</c:v>
                </c:pt>
                <c:pt idx="24">
                  <c:v>0.451</c:v>
                </c:pt>
                <c:pt idx="25">
                  <c:v>0.355</c:v>
                </c:pt>
                <c:pt idx="26">
                  <c:v>0.264</c:v>
                </c:pt>
                <c:pt idx="27">
                  <c:v>0.183</c:v>
                </c:pt>
                <c:pt idx="28">
                  <c:v>0.113</c:v>
                </c:pt>
                <c:pt idx="29">
                  <c:v>0.059</c:v>
                </c:pt>
                <c:pt idx="30">
                  <c:v>0.022</c:v>
                </c:pt>
                <c:pt idx="31">
                  <c:v>0.002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9E2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2118791784"/>
        <c:crosses val="autoZero"/>
        <c:majorUnit val="0.5"/>
      </c:valAx>
    </c:plotArea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cat>
            <c:strRef>
              <c:f>Sheet1!$A$2:$A$7</c:f>
              <c:strCache>
                <c:ptCount val="6"/>
                <c:pt idx="0">
                  <c:v>Fusobacteriota</c:v>
                </c:pt>
                <c:pt idx="1">
                  <c:v>Actinobacteriota</c:v>
                </c:pt>
                <c:pt idx="2">
                  <c:v>Campylobacterota</c:v>
                </c:pt>
                <c:pt idx="3">
                  <c:v>Bacteroidota</c:v>
                </c:pt>
                <c:pt idx="4">
                  <c:v>Proteobacteria</c:v>
                </c:pt>
                <c:pt idx="5">
                  <c:v>Firmicutes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85.4</c:v>
                </c:pt>
                <c:pt idx="1">
                  <c:v>74.9</c:v>
                </c:pt>
                <c:pt idx="2">
                  <c:v>64.4</c:v>
                </c:pt>
                <c:pt idx="3">
                  <c:v>61.4</c:v>
                </c:pt>
                <c:pt idx="4">
                  <c:v>56.4</c:v>
                </c:pt>
                <c:pt idx="5">
                  <c:v>54.8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dPt>
            <c:idx val="6"/>
            <c:spPr>
              <a:solidFill>
                <a:srgbClr val="1B7F7A"/>
              </a:solidFill>
            </c:spPr>
          </c:dPt>
          <c:dPt>
            <c:idx val="7"/>
            <c:spPr>
              <a:solidFill>
                <a:srgbClr val="1B7F7A"/>
              </a:solidFill>
            </c:spPr>
          </c:dPt>
          <c:dPt>
            <c:idx val="8"/>
            <c:spPr>
              <a:solidFill>
                <a:srgbClr val="1B7F7A"/>
              </a:solidFill>
            </c:spPr>
          </c:dPt>
          <c:dPt>
            <c:idx val="9"/>
            <c:spPr>
              <a:solidFill>
                <a:srgbClr val="1B7F7A"/>
              </a:solidFill>
            </c:spPr>
          </c:dPt>
          <c:dPt>
            <c:idx val="10"/>
            <c:spPr>
              <a:solidFill>
                <a:srgbClr val="1B7F7A"/>
              </a:solidFill>
            </c:spPr>
          </c:dPt>
          <c:dPt>
            <c:idx val="11"/>
            <c:spPr>
              <a:solidFill>
                <a:srgbClr val="1B7F7A"/>
              </a:solidFill>
            </c:spPr>
          </c:dPt>
          <c:dPt>
            <c:idx val="12"/>
            <c:spPr>
              <a:solidFill>
                <a:srgbClr val="1B7F7A"/>
              </a:solidFill>
            </c:spPr>
          </c:dPt>
          <c:dPt>
            <c:idx val="13"/>
            <c:spPr>
              <a:solidFill>
                <a:srgbClr val="1B7F7A"/>
              </a:solidFill>
            </c:spPr>
          </c:dPt>
          <c:dPt>
            <c:idx val="14"/>
            <c:spPr>
              <a:solidFill>
                <a:srgbClr val="1B7F7A"/>
              </a:solidFill>
            </c:spPr>
          </c:dPt>
          <c:dPt>
            <c:idx val="15"/>
            <c:spPr>
              <a:solidFill>
                <a:srgbClr val="1B7F7A"/>
              </a:solidFill>
            </c:spPr>
          </c:dPt>
          <c:dPt>
            <c:idx val="16"/>
            <c:spPr>
              <a:solidFill>
                <a:srgbClr val="1B7F7A"/>
              </a:solidFill>
            </c:spPr>
          </c:dPt>
          <c:dPt>
            <c:idx val="17"/>
            <c:spPr>
              <a:solidFill>
                <a:srgbClr val="1B7F7A"/>
              </a:solidFill>
            </c:spPr>
          </c:dPt>
          <c:dPt>
            <c:idx val="18"/>
            <c:spPr>
              <a:solidFill>
                <a:srgbClr val="1B7F7A"/>
              </a:solidFill>
            </c:spPr>
          </c:dPt>
          <c:dPt>
            <c:idx val="19"/>
            <c:spPr>
              <a:solidFill>
                <a:srgbClr val="1B7F7A"/>
              </a:solidFill>
            </c:spPr>
          </c:dPt>
          <c:dPt>
            <c:idx val="20"/>
            <c:spPr>
              <a:solidFill>
                <a:srgbClr val="1B7F7A"/>
              </a:solidFill>
            </c:spPr>
          </c:dPt>
          <c:dPt>
            <c:idx val="21"/>
            <c:spPr>
              <a:solidFill>
                <a:srgbClr val="1B7F7A"/>
              </a:solidFill>
            </c:spPr>
          </c:dPt>
          <c:dPt>
            <c:idx val="22"/>
            <c:spPr>
              <a:solidFill>
                <a:srgbClr val="1B7F7A"/>
              </a:solidFill>
            </c:spPr>
          </c:dPt>
          <c:dPt>
            <c:idx val="23"/>
            <c:spPr>
              <a:solidFill>
                <a:srgbClr val="1B7F7A"/>
              </a:solidFill>
            </c:spPr>
          </c:dPt>
          <c:dPt>
            <c:idx val="24"/>
            <c:spPr>
              <a:solidFill>
                <a:srgbClr val="1B7F7A"/>
              </a:solidFill>
            </c:spPr>
          </c:dPt>
          <c:dPt>
            <c:idx val="25"/>
            <c:spPr>
              <a:solidFill>
                <a:srgbClr val="1B7F7A"/>
              </a:solidFill>
            </c:spPr>
          </c:dPt>
          <c:dPt>
            <c:idx val="26"/>
            <c:spPr>
              <a:solidFill>
                <a:srgbClr val="1B7F7A"/>
              </a:solidFill>
            </c:spPr>
          </c:dPt>
          <c:dPt>
            <c:idx val="27"/>
            <c:spPr>
              <a:solidFill>
                <a:srgbClr val="1B7F7A"/>
              </a:solidFill>
            </c:spPr>
          </c:dPt>
          <c:dPt>
            <c:idx val="28"/>
            <c:spPr>
              <a:solidFill>
                <a:srgbClr val="1B7F7A"/>
              </a:solidFill>
            </c:spPr>
          </c:dPt>
          <c:dPt>
            <c:idx val="29"/>
            <c:spPr>
              <a:solidFill>
                <a:srgbClr val="F0634F"/>
              </a:solidFill>
            </c:spPr>
          </c:dPt>
          <c:dPt>
            <c:idx val="30"/>
            <c:spPr>
              <a:solidFill>
                <a:srgbClr val="F0634F"/>
              </a:solidFill>
            </c:spPr>
          </c:dPt>
          <c:dPt>
            <c:idx val="31"/>
            <c:spPr>
              <a:solidFill>
                <a:srgbClr val="F0634F"/>
              </a:solidFill>
            </c:spPr>
          </c:dPt>
          <c:dPt>
            <c:idx val="32"/>
            <c:spPr>
              <a:solidFill>
                <a:srgbClr val="F0634F"/>
              </a:solidFill>
            </c:spPr>
          </c:dPt>
          <c:dPt>
            <c:idx val="33"/>
            <c:spPr>
              <a:solidFill>
                <a:srgbClr val="F0634F"/>
              </a:solidFill>
            </c:spPr>
          </c:dPt>
          <c:cat>
            <c:strRef>
              <c:f>Sheet1!$A$2:$A$35</c:f>
              <c:strCache>
                <c:ptCount val="34"/>
                <c:pt idx="0">
                  <c:v>Sneathia</c:v>
                </c:pt>
                <c:pt idx="1">
                  <c:v>Streptobacillus</c:v>
                </c:pt>
                <c:pt idx="2">
                  <c:v>Escherichia-Shigella</c:v>
                </c:pt>
                <c:pt idx="3">
                  <c:v>Leptotrichia</c:v>
                </c:pt>
                <c:pt idx="4">
                  <c:v>Staphylococcus</c:v>
                </c:pt>
                <c:pt idx="5">
                  <c:v>Campylobacter</c:v>
                </c:pt>
                <c:pt idx="6">
                  <c:v>Moraxella</c:v>
                </c:pt>
                <c:pt idx="7">
                  <c:v>Cutibacterium</c:v>
                </c:pt>
                <c:pt idx="8">
                  <c:v>Pseudomonas</c:v>
                </c:pt>
                <c:pt idx="9">
                  <c:v>Helicobacter</c:v>
                </c:pt>
                <c:pt idx="10">
                  <c:v>Corynebacterium</c:v>
                </c:pt>
                <c:pt idx="11">
                  <c:v>Porphyromonas</c:v>
                </c:pt>
                <c:pt idx="12">
                  <c:v>Streptococcus</c:v>
                </c:pt>
                <c:pt idx="13">
                  <c:v>Cetobacterium</c:v>
                </c:pt>
                <c:pt idx="14">
                  <c:v>Bacteroides</c:v>
                </c:pt>
                <c:pt idx="15">
                  <c:v>Actinomyces</c:v>
                </c:pt>
                <c:pt idx="16">
                  <c:v>Micrococcus</c:v>
                </c:pt>
                <c:pt idx="17">
                  <c:v>Bifidobacterium</c:v>
                </c:pt>
                <c:pt idx="18">
                  <c:v>Enterococcus</c:v>
                </c:pt>
                <c:pt idx="19">
                  <c:v>Clostridium sensu stricto 1</c:v>
                </c:pt>
                <c:pt idx="20">
                  <c:v>Neisseria</c:v>
                </c:pt>
                <c:pt idx="21">
                  <c:v>Tannerella</c:v>
                </c:pt>
                <c:pt idx="22">
                  <c:v>Acinetobacter</c:v>
                </c:pt>
                <c:pt idx="23">
                  <c:v>Alistipes</c:v>
                </c:pt>
                <c:pt idx="24">
                  <c:v>Lactobacillus</c:v>
                </c:pt>
                <c:pt idx="25">
                  <c:v>Prevotella</c:v>
                </c:pt>
                <c:pt idx="26">
                  <c:v>Fusobacterium</c:v>
                </c:pt>
                <c:pt idx="27">
                  <c:v>Ruminococcus</c:v>
                </c:pt>
                <c:pt idx="28">
                  <c:v>Parabacteroides</c:v>
                </c:pt>
                <c:pt idx="29">
                  <c:v>Salmonella</c:v>
                </c:pt>
                <c:pt idx="30">
                  <c:v>Lachnospira</c:v>
                </c:pt>
                <c:pt idx="31">
                  <c:v>Anaerostipes</c:v>
                </c:pt>
                <c:pt idx="32">
                  <c:v>Enterobacter</c:v>
                </c:pt>
                <c:pt idx="33">
                  <c:v>Blautia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100.0</c:v>
                </c:pt>
                <c:pt idx="1">
                  <c:v>100.0</c:v>
                </c:pt>
                <c:pt idx="2">
                  <c:v>94.7</c:v>
                </c:pt>
                <c:pt idx="3">
                  <c:v>93.7</c:v>
                </c:pt>
                <c:pt idx="4">
                  <c:v>92.8</c:v>
                </c:pt>
                <c:pt idx="5">
                  <c:v>91.4</c:v>
                </c:pt>
                <c:pt idx="6">
                  <c:v>90.7</c:v>
                </c:pt>
                <c:pt idx="7">
                  <c:v>87.5</c:v>
                </c:pt>
                <c:pt idx="8">
                  <c:v>86.7</c:v>
                </c:pt>
                <c:pt idx="9">
                  <c:v>85.6</c:v>
                </c:pt>
                <c:pt idx="10">
                  <c:v>83.9</c:v>
                </c:pt>
                <c:pt idx="11">
                  <c:v>82.1</c:v>
                </c:pt>
                <c:pt idx="12">
                  <c:v>79.0</c:v>
                </c:pt>
                <c:pt idx="13">
                  <c:v>75.0</c:v>
                </c:pt>
                <c:pt idx="14">
                  <c:v>72.3</c:v>
                </c:pt>
                <c:pt idx="15">
                  <c:v>69.6</c:v>
                </c:pt>
                <c:pt idx="16">
                  <c:v>66.3</c:v>
                </c:pt>
                <c:pt idx="17">
                  <c:v>60.7</c:v>
                </c:pt>
                <c:pt idx="18">
                  <c:v>60.6</c:v>
                </c:pt>
                <c:pt idx="19">
                  <c:v>59.2</c:v>
                </c:pt>
                <c:pt idx="20">
                  <c:v>56.9</c:v>
                </c:pt>
                <c:pt idx="21">
                  <c:v>56.6</c:v>
                </c:pt>
                <c:pt idx="22">
                  <c:v>55.5</c:v>
                </c:pt>
                <c:pt idx="23">
                  <c:v>54.6</c:v>
                </c:pt>
                <c:pt idx="24">
                  <c:v>54.2</c:v>
                </c:pt>
                <c:pt idx="25">
                  <c:v>52.8</c:v>
                </c:pt>
                <c:pt idx="26">
                  <c:v>51.8</c:v>
                </c:pt>
                <c:pt idx="27">
                  <c:v>51.6</c:v>
                </c:pt>
                <c:pt idx="28">
                  <c:v>50.4</c:v>
                </c:pt>
                <c:pt idx="29">
                  <c:v>43.9</c:v>
                </c:pt>
                <c:pt idx="30">
                  <c:v>17.7</c:v>
                </c:pt>
                <c:pt idx="31">
                  <c:v>13.8</c:v>
                </c:pt>
                <c:pt idx="32">
                  <c:v>5.7</c:v>
                </c:pt>
                <c:pt idx="33">
                  <c:v>5.6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8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dPt>
            <c:idx val="6"/>
            <c:spPr>
              <a:solidFill>
                <a:srgbClr val="1B7F7A"/>
              </a:solidFill>
            </c:spPr>
          </c:dPt>
          <c:dPt>
            <c:idx val="7"/>
            <c:spPr>
              <a:solidFill>
                <a:srgbClr val="1B7F7A"/>
              </a:solidFill>
            </c:spPr>
          </c:dPt>
          <c:dPt>
            <c:idx val="8"/>
            <c:spPr>
              <a:solidFill>
                <a:srgbClr val="1B7F7A"/>
              </a:solidFill>
            </c:spPr>
          </c:dPt>
          <c:dPt>
            <c:idx val="9"/>
            <c:spPr>
              <a:solidFill>
                <a:srgbClr val="1B7F7A"/>
              </a:solidFill>
            </c:spPr>
          </c:dPt>
          <c:dPt>
            <c:idx val="10"/>
            <c:spPr>
              <a:solidFill>
                <a:srgbClr val="1B7F7A"/>
              </a:solidFill>
            </c:spPr>
          </c:dPt>
          <c:dPt>
            <c:idx val="11"/>
            <c:spPr>
              <a:solidFill>
                <a:srgbClr val="1B7F7A"/>
              </a:solidFill>
            </c:spPr>
          </c:dPt>
          <c:dPt>
            <c:idx val="12"/>
            <c:spPr>
              <a:solidFill>
                <a:srgbClr val="1B7F7A"/>
              </a:solidFill>
            </c:spPr>
          </c:dPt>
          <c:dPt>
            <c:idx val="13"/>
            <c:spPr>
              <a:solidFill>
                <a:srgbClr val="1B7F7A"/>
              </a:solidFill>
            </c:spPr>
          </c:dPt>
          <c:dPt>
            <c:idx val="14"/>
            <c:spPr>
              <a:solidFill>
                <a:srgbClr val="1B7F7A"/>
              </a:solidFill>
            </c:spPr>
          </c:dPt>
          <c:dPt>
            <c:idx val="15"/>
            <c:spPr>
              <a:solidFill>
                <a:srgbClr val="1B7F7A"/>
              </a:solidFill>
            </c:spPr>
          </c:dPt>
          <c:dPt>
            <c:idx val="16"/>
            <c:spPr>
              <a:solidFill>
                <a:srgbClr val="1B7F7A"/>
              </a:solidFill>
            </c:spPr>
          </c:dPt>
          <c:dPt>
            <c:idx val="17"/>
            <c:spPr>
              <a:solidFill>
                <a:srgbClr val="1B7F7A"/>
              </a:solidFill>
            </c:spPr>
          </c:dPt>
          <c:dPt>
            <c:idx val="18"/>
            <c:spPr>
              <a:solidFill>
                <a:srgbClr val="1B7F7A"/>
              </a:solidFill>
            </c:spPr>
          </c:dPt>
          <c:dPt>
            <c:idx val="19"/>
            <c:spPr>
              <a:solidFill>
                <a:srgbClr val="1B7F7A"/>
              </a:solidFill>
            </c:spPr>
          </c:dPt>
          <c:dPt>
            <c:idx val="20"/>
            <c:spPr>
              <a:solidFill>
                <a:srgbClr val="1B7F7A"/>
              </a:solidFill>
            </c:spPr>
          </c:dPt>
          <c:dPt>
            <c:idx val="21"/>
            <c:spPr>
              <a:solidFill>
                <a:srgbClr val="1B7F7A"/>
              </a:solidFill>
            </c:spPr>
          </c:dPt>
          <c:dPt>
            <c:idx val="22"/>
            <c:spPr>
              <a:solidFill>
                <a:srgbClr val="1B7F7A"/>
              </a:solidFill>
            </c:spPr>
          </c:dPt>
          <c:dPt>
            <c:idx val="23"/>
            <c:spPr>
              <a:solidFill>
                <a:srgbClr val="1B7F7A"/>
              </a:solidFill>
            </c:spPr>
          </c:dPt>
          <c:dPt>
            <c:idx val="24"/>
            <c:spPr>
              <a:solidFill>
                <a:srgbClr val="1B7F7A"/>
              </a:solidFill>
            </c:spPr>
          </c:dPt>
          <c:cat>
            <c:strRef>
              <c:f>Sheet1!$A$2:$A$26</c:f>
              <c:strCache>
                <c:ptCount val="25"/>
                <c:pt idx="0">
                  <c:v>Campylobacteraceae</c:v>
                </c:pt>
                <c:pt idx="1">
                  <c:v>Staphylococcaceae</c:v>
                </c:pt>
                <c:pt idx="2">
                  <c:v>Bifidobacteriaceae</c:v>
                </c:pt>
                <c:pt idx="3">
                  <c:v>Helicobacteraceae</c:v>
                </c:pt>
                <c:pt idx="4">
                  <c:v>Pseudomonadaceae</c:v>
                </c:pt>
                <c:pt idx="5">
                  <c:v>Leptotrichiaceae</c:v>
                </c:pt>
                <c:pt idx="6">
                  <c:v>Corynebacteriaceae</c:v>
                </c:pt>
                <c:pt idx="7">
                  <c:v>Porphyromonadaceae</c:v>
                </c:pt>
                <c:pt idx="8">
                  <c:v>Streptococcaceae</c:v>
                </c:pt>
                <c:pt idx="9">
                  <c:v>Lachnospiraceae</c:v>
                </c:pt>
                <c:pt idx="10">
                  <c:v>Propionibacteriaceae</c:v>
                </c:pt>
                <c:pt idx="11">
                  <c:v>Enterobacteriaceae</c:v>
                </c:pt>
                <c:pt idx="12">
                  <c:v>Neisseriaceae</c:v>
                </c:pt>
                <c:pt idx="13">
                  <c:v>Clostridiaceae</c:v>
                </c:pt>
                <c:pt idx="14">
                  <c:v>Bacteroidaceae</c:v>
                </c:pt>
                <c:pt idx="15">
                  <c:v>Actinomycetaceae</c:v>
                </c:pt>
                <c:pt idx="16">
                  <c:v>Micrococcaceae</c:v>
                </c:pt>
                <c:pt idx="17">
                  <c:v>Fusobacteriaceae</c:v>
                </c:pt>
                <c:pt idx="18">
                  <c:v>Rikenellaceae</c:v>
                </c:pt>
                <c:pt idx="19">
                  <c:v>Enterococcaceae</c:v>
                </c:pt>
                <c:pt idx="20">
                  <c:v>Lactobacillaceae</c:v>
                </c:pt>
                <c:pt idx="21">
                  <c:v>Tannerellaceae</c:v>
                </c:pt>
                <c:pt idx="22">
                  <c:v>Prevotellaceae</c:v>
                </c:pt>
                <c:pt idx="23">
                  <c:v>Ruminococcaceae</c:v>
                </c:pt>
                <c:pt idx="24">
                  <c:v>Moraxellaceae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91.4</c:v>
                </c:pt>
                <c:pt idx="1">
                  <c:v>89.7</c:v>
                </c:pt>
                <c:pt idx="2">
                  <c:v>85.5</c:v>
                </c:pt>
                <c:pt idx="3">
                  <c:v>85.3</c:v>
                </c:pt>
                <c:pt idx="4">
                  <c:v>84.7</c:v>
                </c:pt>
                <c:pt idx="5">
                  <c:v>83.1</c:v>
                </c:pt>
                <c:pt idx="6">
                  <c:v>82.2</c:v>
                </c:pt>
                <c:pt idx="7">
                  <c:v>81.7</c:v>
                </c:pt>
                <c:pt idx="8">
                  <c:v>79.8</c:v>
                </c:pt>
                <c:pt idx="9">
                  <c:v>78.0</c:v>
                </c:pt>
                <c:pt idx="10">
                  <c:v>76.9</c:v>
                </c:pt>
                <c:pt idx="11">
                  <c:v>75.0</c:v>
                </c:pt>
                <c:pt idx="12">
                  <c:v>74.0</c:v>
                </c:pt>
                <c:pt idx="13">
                  <c:v>72.3</c:v>
                </c:pt>
                <c:pt idx="14">
                  <c:v>72.3</c:v>
                </c:pt>
                <c:pt idx="15">
                  <c:v>72.1</c:v>
                </c:pt>
                <c:pt idx="16">
                  <c:v>66.7</c:v>
                </c:pt>
                <c:pt idx="17">
                  <c:v>66.3</c:v>
                </c:pt>
                <c:pt idx="18">
                  <c:v>62.9</c:v>
                </c:pt>
                <c:pt idx="19">
                  <c:v>58.6</c:v>
                </c:pt>
                <c:pt idx="20">
                  <c:v>56.7</c:v>
                </c:pt>
                <c:pt idx="21">
                  <c:v>56.5</c:v>
                </c:pt>
                <c:pt idx="22">
                  <c:v>53.6</c:v>
                </c:pt>
                <c:pt idx="23">
                  <c:v>52.9</c:v>
                </c:pt>
                <c:pt idx="24">
                  <c:v>52.3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9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F0634F"/>
              </a:solidFill>
            </c:spPr>
          </c:dPt>
          <c:dPt>
            <c:idx val="3"/>
            <c:spPr>
              <a:solidFill>
                <a:srgbClr val="F0634F"/>
              </a:solidFill>
            </c:spPr>
          </c:dPt>
          <c:dPt>
            <c:idx val="4"/>
            <c:spPr>
              <a:solidFill>
                <a:srgbClr val="F0634F"/>
              </a:solidFill>
            </c:spPr>
          </c:dPt>
          <c:dPt>
            <c:idx val="5"/>
            <c:spPr>
              <a:solidFill>
                <a:srgbClr val="F0634F"/>
              </a:solidFill>
            </c:spPr>
          </c:dPt>
          <c:dPt>
            <c:idx val="6"/>
            <c:spPr>
              <a:solidFill>
                <a:srgbClr val="F0634F"/>
              </a:solidFill>
            </c:spPr>
          </c:dPt>
          <c:cat>
            <c:strRef>
              <c:f>Sheet1!$A$2:$A$8</c:f>
              <c:strCache>
                <c:ptCount val="7"/>
                <c:pt idx="0">
                  <c:v>Helicobacter pylori</c:v>
                </c:pt>
                <c:pt idx="1">
                  <c:v>Fusobacterium nucleatum</c:v>
                </c:pt>
                <c:pt idx="2">
                  <c:v>Escherichia coli</c:v>
                </c:pt>
                <c:pt idx="3">
                  <c:v>Cutibacterium acnes</c:v>
                </c:pt>
                <c:pt idx="4">
                  <c:v>Prevotella jejuni</c:v>
                </c:pt>
                <c:pt idx="5">
                  <c:v>Campylobacter jejuni</c:v>
                </c:pt>
                <c:pt idx="6">
                  <c:v>Enterobacter hormaechei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82.2</c:v>
                </c:pt>
                <c:pt idx="1">
                  <c:v>50.4</c:v>
                </c:pt>
                <c:pt idx="2">
                  <c:v>3.3</c:v>
                </c:pt>
                <c:pt idx="3">
                  <c:v>2.5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49"/>
                </a:solidFill>
              </a:rPr>
              <a:t>Probes by BLAST weighted specificity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non-target hits count</c:v>
                </c:pt>
              </c:strCache>
            </c:strRef>
          </c:tx>
          <c:spPr>
            <a:solidFill>
              <a:srgbClr val="5F6B70"/>
            </a:solidFill>
          </c:spPr>
          <c:cat>
            <c:strRef>
              <c:f>Sheet1!$A$2:$A$5</c:f>
              <c:strCache>
                <c:ptCount val="4"/>
                <c:pt idx="0">
                  <c:v>Specific
(≥ 0.95)</c:v>
                </c:pt>
                <c:pt idx="1">
                  <c:v>Moderate
(0.80–0.95)</c:v>
                </c:pt>
                <c:pt idx="2">
                  <c:v>Low
(&lt; 0.80)</c:v>
                </c:pt>
                <c:pt idx="3">
                  <c:v>Reaches &lt; 10%
of species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Unnamed same-genus set aside</c:v>
                </c:pt>
              </c:strCache>
            </c:strRef>
          </c:tx>
          <c:spPr>
            <a:solidFill>
              <a:srgbClr val="1B7F7A"/>
            </a:solidFill>
          </c:spPr>
          <c:cat>
            <c:strRef>
              <c:f>Sheet1!$A$2:$A$5</c:f>
              <c:strCache>
                <c:ptCount val="4"/>
                <c:pt idx="0">
                  <c:v>Specific
(≥ 0.95)</c:v>
                </c:pt>
                <c:pt idx="1">
                  <c:v>Moderate
(0.80–0.95)</c:v>
                </c:pt>
                <c:pt idx="2">
                  <c:v>Low
(&lt; 0.80)</c:v>
                </c:pt>
                <c:pt idx="3">
                  <c:v>Reaches &lt; 10%
of species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5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E2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bac-probes designs short 16S rRNA probes that are specific to a taxon, using SILVA as the reference. This deck covers the tool, the KAN2M3 design runs at four taxonomic levels, and the validation of an external probe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stages. Candidates come from the target's own sequences; specificity is checked against everything else in SILVA, first exactly and then with BLAST for near-matches; selection then assembles a small pool of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 mismatch near the probe centre destabilises binding, so an off-target with a central mismatch counts for almost nothing; one with only end mismatches counts almost fully. Right: the selection rules used for every taxon.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phylum reaches 50% pooled coverage at a strict floor (0.99 or higher).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off-targets are the other large phyla, mostly Firmicutes and Proteobacteria, as near-matches.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genera fall short; all sit in crowded families where BLAST finds near-matches in sister genera.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= below the 50% goal. Floor = the specificity floor that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family reaches 50% pooled coverage; floors range from 0.98 to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would mark families below 50%; none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H. pylori reaches 82% at the strictest floor; F. nucleatum 50% at 0.95. The rest are limited by 16S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these species, genus- or family-level probes or a non-16S marker gene are the practical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178 exact off-targets in the first validation run were strains of the target species; counting strains as the species removed every one. Most probes match few SILVA sequences exactly but near-match almost all, suggesting they come from one reference strain.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= every non-target hit counts. Excl. unnamed = unnamed sequences in the species' own genus are set aside, since they may be the species itself. Truth lies between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634F"/>
                </a:solidFill>
                <a:latin typeface="Arial"/>
              </a:rPr>
              <a:t>KAN2M3 PROBE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bac-probes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DDEFEC"/>
                </a:solidFill>
                <a:latin typeface="Arial"/>
              </a:rPr>
              <a:t>Designing taxon-specific 16S rRNA probes for Xenium in-situ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taxa designed across
phylum, family, genus,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616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probes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62 /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taxa reach 50% pooled
coverage with specific probes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DEFEC"/>
                </a:solidFill>
                <a:latin typeface="Arial"/>
              </a:rPr>
              <a:t>Reference: SILVA 138.1 SSURef NR99  ·  510,508 16S sequences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How bac-probes designs probes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One run handles any number of taxa: SILVA is read twice in total, with work spread across CPU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2</a:t>
            </a:r>
          </a:p>
        </p:txBody>
      </p:sp>
      <p:sp>
        <p:nvSpPr>
          <p:cNvPr id="6" name="Step 1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Find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Every 32-mer present in at least a set share of the taxon's SILVA sequences (10% for phyla, 2% otherwise), GC 35–65%, no homopolymer runs of 5+.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91256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2"/>
          <p:cNvSpPr/>
          <p:nvPr/>
        </p:nvSpPr>
        <p:spPr>
          <a:xfrm>
            <a:off x="3401568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Exact off-target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One pass over all 510,508 SILVA sequences counts exact matches outside the taxon, giving each candidate an exact precision.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44184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 3"/>
          <p:cNvSpPr/>
          <p:nvPr/>
        </p:nvSpPr>
        <p:spPr>
          <a:xfrm>
            <a:off x="6254496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BLAST near-misses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Up to 120 of the best candidates per taxon are BLASTed. Off-target near-matches are weighted by where their mismatches fall in the probe.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97111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4"/>
          <p:cNvSpPr/>
          <p:nvPr/>
        </p:nvSpPr>
        <p:spPr>
          <a:xfrm>
            <a:off x="9107424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36024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Pooled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Up to 10 probes at distinct sites that together cover 50% of the taxon, at the strictest specificity that gets there.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3C49"/>
                </a:solidFill>
                <a:latin typeface="Arial"/>
              </a:rPr>
              <a:t>Two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6766560" cy="475488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6492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bac-probes design  silva.fasta.gz  taxa.csv  --blast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983480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taxa → candidate tables + selected probe 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05272"/>
            <a:ext cx="6766560" cy="475488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6492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bac-probes validate  silva.fasta.gz  probes.csv  --blast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5605272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existing probes → coverage + specificity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Scoring specificity and choosing probes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Near-matches are weighted by mismatch position; selection favours the strictest probes that still pool to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3C49"/>
                </a:solidFill>
                <a:latin typeface="Arial"/>
              </a:rPr>
              <a:t>Central mismatch → weight ≈ 1: </a:t>
            </a:r>
            <a:r>
              <a:rPr sz="1200" b="0" i="0">
                <a:solidFill>
                  <a:srgbClr val="1F2A30"/>
                </a:solidFill>
                <a:latin typeface="Arial"/>
              </a:rPr>
              <a:t>the off-target is unlikely to bind and barely counts.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3C49"/>
                </a:solidFill>
                <a:latin typeface="Arial"/>
              </a:rPr>
              <a:t>End mismatch → weight ≈ 0: </a:t>
            </a:r>
            <a:r>
              <a:rPr sz="1200" b="0" i="0">
                <a:solidFill>
                  <a:srgbClr val="1F2A30"/>
                </a:solidFill>
                <a:latin typeface="Arial"/>
              </a:rPr>
              <a:t>it may still bind and counts almost fully.</a:t>
            </a:r>
          </a:p>
        </p:txBody>
      </p:sp>
      <p:sp>
        <p:nvSpPr>
          <p:cNvPr id="8" name="Oval 7"/>
          <p:cNvSpPr/>
          <p:nvPr/>
        </p:nvSpPr>
        <p:spPr>
          <a:xfrm>
            <a:off x="6537960" y="1645920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27632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Strictest floor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75104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Try specificity floors 1.0 → 0.999 → … → 0.90 and keep the strictest whose probe set reaches 50% pooled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2761488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Greedy, distinct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90672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Each pick covers the most not-yet-covered sequences; probes sharing a 16-mer count as one site.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3877056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58768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Species-aware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06240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Strains and subspecies count as the species; unnamed sequences in its genus can be set aside.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4992624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974336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Reproducible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21808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Ties are broken on the sequence itself, and every run records its exact command in command.txt.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Phylum: all 6 phyla reach the 50% goal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10% of each phylum's sequences  ·  BLAST cap raised to 200,000 hits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phyla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Phylum: 8–10 probes per phylum at floors of 0.99 or stricter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Each probe covers 10–43% of its phylum alone; pooling several gets every phylum past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234440"/>
                <a:gridCol w="822960"/>
                <a:gridCol w="868680"/>
                <a:gridCol w="1051560"/>
                <a:gridCol w="1463040"/>
                <a:gridCol w="3611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Phylum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 probe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Main BLAST off-targets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Firmicutes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117,419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54.8%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10–16%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Actinobacteriota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Proteobacteria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136,158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56.4%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10–23%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Firmicutes, Actinobacteriota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Bacteroidota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46,851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61.4%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10–40%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Planctomycetota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Actinobacteriota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39,596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74.9%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10–34%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Firmicutes, Proteobacteria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Fusobacteriota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1,838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85.4%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11–43%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Firmicutes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Campylobacterota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4,820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64.4%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11–23%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Firmicutes, Bacteroidota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5321808"/>
            <a:ext cx="457200" cy="457200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212080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Lowering the candidate bar from 25% to 10% gave selection more sites to combine: every phylum gained probes and stricter floors, and Campylobacterota went from 44.6% to 64.4%.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Genus: 29 of 34 genera reach 50% pooled coverage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of each genus's sequences  ·  'Clostridium' = SILVA's Clostridium sensu stricto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29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genera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Genus: genera in crowded families fall short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Lachnospira, Blautia, Anaerostipes (Lachnospiraceae) and Enterobacter, Salmonella (Enterobacteriaceae) miss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349240" cy="46908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1051560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Genus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Staphylococcus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92.8%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Streptococcus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79.0%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60.6%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Lactobacillus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54.2%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Clostridium s.s. 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59.2%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Lachnospira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17.7%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Blautia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5.6%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Anaerostipes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13.8%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Ruminococcus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51.6%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Escherichia-Shigella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94.7%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5.7%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Salmonella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43.9%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Pseudomonas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86.7%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Moraxella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90.7%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Acinetobacter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55.5%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Neisseria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Bacteroides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72.3%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19" y="1508760"/>
          <a:ext cx="5349240" cy="46908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1051560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Genus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Prevotella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52.8%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Porphyromonas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82.1%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Tannerella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Parabacteroides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50.4%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Alistipes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54.6%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Cutibacterium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87.5%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Corynebacterium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83.9%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Actinomyces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69.6%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Bifidobacterium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60.7%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Micrococcus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66.3%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Fusobacterium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51.8%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Cetobacterium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Leptotrichia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93.7%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Sneathia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Streptobacillus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Campylobacter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91.4%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Helicobacter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Family: all 25 families reach the 50% goal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of each family's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families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0.98–1.0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Family: specific probes even for the crowded families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Lachnospiraceae and Rikenellaceae need the loosest floor (0.98); isolated families reach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349240" cy="4608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960120"/>
                <a:gridCol w="685800"/>
                <a:gridCol w="73152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Staphylococcaceae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6,637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89.7%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Streptococcaceae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7,739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79.8%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2,134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58.6%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Lactobacillaceae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6,372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Clostridiaceae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3,662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72.3%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Lachnospiraceae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23,099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78.0%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Ruminococcaceae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5,904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52.9%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Enterobacteriaceae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20,869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Pseudomonadaceae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9,419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84.7%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Moraxellaceae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4,720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52.3%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Neisseriaceae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1,795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74.0%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Bacteroidaceae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3,747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72.3%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Prevotellaceae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5,132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53.6%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19" y="1508760"/>
          <a:ext cx="5349240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960120"/>
                <a:gridCol w="685800"/>
                <a:gridCol w="73152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Porphyromonadaceae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81.7%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Tannerellaceae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56.5%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Rikenellaceae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2,864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62.9%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Propionibacteriaceae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2,495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76.9%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Corynebacteriaceae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3,781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82.2%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Actinomycetaceae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72.1%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Bifidobacteriaceae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Micrococcaceae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3,153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66.7%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Fusobacteriaceae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1,348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66.3%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Leptotrichiaceae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83.1%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Campylobacteraceae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1,035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91.4%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Helicobacteraceae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Species: only H. pylori and F. nucleatum reach 50%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 ·  unnamed same-genus sequences set aside (--exclude-unnamed-congeners)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species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Species: the limits are biological, not the settings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Sister species share near-identical 16S, so no 32-mer separates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1188720"/>
                <a:gridCol w="914400"/>
                <a:gridCol w="1005840"/>
                <a:gridCol w="5440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Fusobacterium nucleatum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50.4%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Reaches 50%; main cross-reactor F. periodonticum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Helicobacter pylori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82.2%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Reaches 82% with fully specific probes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Prevotella jejuni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Only 5 SILVA sequences; near-matches in P. denticola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Escherichia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5,267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3.3%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Indistinguishable from Shigella; close to Salmonella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Cutibacterium acnes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1,585 Cutibacterium sequences have no species name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Campylobacter jejuni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Near-identical to C.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Enterobacter hormaechei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E. cloacae complex shares nearly identical 16S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B70"/>
                </a:solidFill>
                <a:latin typeface="Arial"/>
              </a:rPr>
              <a:t>Options for the others: genus- or family-level probes, or a non-16S marker gene (e.g. rpoB, gyrB).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Validation: 35 external probes, no exact off-targets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bac-probes validate --blast --exclude-unnamed-congeners on the KAN2M3 query probes (40-mers, 7 species)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exact off-targets (178 before strains were counted as the species)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31 /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exactly match &lt; 5% of their species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18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specific (≥ 0.95) once unnamed same-genus sequences are set aside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63040"/>
          <a:ext cx="77724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Validation: best probes per species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Probe numbers follow the order in query.csv within each species; specific = BLAST weighted specificity ≥ 0.95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777240"/>
                <a:gridCol w="1600200"/>
                <a:gridCol w="1783080"/>
                <a:gridCol w="45262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(standard)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(excl. unnamed)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Fusobacterium nucleatum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Penalty mostly from unnamed Fusobacterium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Helicobacter pylori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#2, #3, #4, #6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#2, #3, #4, #6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#8: best exact coverage (59%), near-matches H. felis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Prevotella jejuni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Single probe; near-matches all 5 SILVA sequences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Escherichia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 near-matches 99% but exactly only 2; #1 hits Klebsiella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Cutibacterium acnes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#4, #6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#4, #5, #6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#5 driven down by unnamed Cutibacterium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Campylobacter jejuni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#5, #6 each match a single SILVA sequence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Enterobacter hormaechei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#4, #5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#4, #5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#6 reach only 1–2 sequences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